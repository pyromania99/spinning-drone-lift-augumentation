
<file path=[Content_Types].xml><?xml version="1.0" encoding="utf-8"?>
<Types xmlns="http://schemas.openxmlformats.org/package/2006/content-types">
  <Default Extension="jpeg" ContentType="image/jpeg"/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69" r:id="rId5"/>
    <p:sldId id="275" r:id="rId6"/>
    <p:sldId id="258" r:id="rId7"/>
    <p:sldId id="259" r:id="rId8"/>
    <p:sldId id="276" r:id="rId9"/>
    <p:sldId id="262" r:id="rId10"/>
    <p:sldId id="263" r:id="rId11"/>
    <p:sldId id="273" r:id="rId12"/>
    <p:sldId id="264" r:id="rId13"/>
    <p:sldId id="277" r:id="rId14"/>
    <p:sldId id="266" r:id="rId15"/>
    <p:sldId id="272" r:id="rId16"/>
    <p:sldId id="267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426A7B-41C2-9988-0A61-65776C7B27C6}" v="1" dt="2026-06-11T08:30:17.412"/>
    <p1510:client id="{C1023647-1171-44A1-9CDF-B49904A5EF0E}" v="146" dt="2026-06-11T07:55:40.2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8074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/>
            </a:pPr>
            <a:r>
              <a:t>[~20s] OPENING</a:t>
            </a:r>
            <a:br/>
            <a:br/>
            <a:r>
              <a:t>"Hi — I'm Aniketh Parkala from the Robotics Research Center at IIIT Hyderabad. In the next five minutes I'll show you how we took the rotation a quadrotor normally fights to suppress, and harvested it as real aerodynamic lift."</a:t>
            </a:r>
            <a:br/>
            <a:br/>
            <a:r>
              <a:t>→ Transition: "Let me start with why this matters."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9E05A-318E-E6AF-0643-E438C0349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974A20-15EB-5669-04AB-A037039C40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9591BD-B7F2-0585-52CC-B6E9BBBA3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90A2B-7EA9-BAAC-77AF-E4FF6653BA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9497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100"/>
            </a:pPr>
            <a:r>
              <a:t>[~10s] Q&amp;A</a:t>
            </a:r>
            <a:br/>
            <a:br/>
            <a:r>
              <a:t>"Thank you. Happy to take questions."</a:t>
            </a:r>
            <a:br/>
            <a:br/>
            <a:r>
              <a:t>LIKELY QUESTIONS — be ready:</a:t>
            </a:r>
            <a:br/>
            <a:r>
              <a:t>• "How do you control yaw while spinning?" — Differential motor thrust for pitch/roll; net spin rate controlled by overall torque balance.</a:t>
            </a:r>
            <a:br/>
            <a:r>
              <a:t>• "What about prop-wash interference with the wings?" — Config II isolates this; interference reduces effective lift ~15% but net gain remains positive.</a:t>
            </a:r>
            <a:br/>
            <a:r>
              <a:t>• "How does it transition from stationary to spinning?" — Gradual spin-up via asymmetric throttle; takes ~3 s to reach steady-state spin.</a:t>
            </a:r>
            <a:br/>
            <a:br/>
            <a:r>
              <a:t>Leave this slide displayed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2.mp4"/><Relationship Id="rId7" Type="http://schemas.openxmlformats.org/officeDocument/2006/relationships/hyperlink" Target="https://youtu.be/q07RIcLkxVw?si=5V6ySU9af4UUlET-" TargetMode="Externa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2.mp4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q07RIcLkxVw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pyromania99/spinning-quadrotor-hover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502920" y="5029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2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ICUAS 2026  —  INTERNATIONAL CONFERENCE ON UNMANNED AIRCRAFT SYSTEMS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475488" y="100584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Spinning Quadrotor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502920" y="192024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1" u="none" strike="noStrike" kern="1200" cap="none" spc="0" normalizeH="0" baseline="0" noProof="0" dirty="0">
                <a:ln>
                  <a:noFill/>
                </a:ln>
                <a:solidFill>
                  <a:srgbClr val="E8F2F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Hover Thrust Augmentation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1" u="none" strike="noStrike" kern="1200" cap="none" spc="0" normalizeH="0" baseline="0" noProof="0" dirty="0">
                <a:ln>
                  <a:noFill/>
                </a:ln>
                <a:solidFill>
                  <a:srgbClr val="E8F2F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with Passive Lifting Surfaces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30352" y="3063240"/>
            <a:ext cx="201168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530352" y="3218688"/>
            <a:ext cx="382011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Aniketh Parkala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Harikumar Kandath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30352" y="35844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AAA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Robotics Research Center, IIIT Hyderabad, India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30352" y="477774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 MeitY, Govt. of India — HRD in Unmanned Aircraft Systems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F8AAFE0-6325-F29E-9EAF-2A3033BA2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260" y="2140252"/>
            <a:ext cx="4597471" cy="2500328"/>
          </a:xfrm>
          <a:prstGeom prst="rect">
            <a:avLst/>
          </a:prstGeom>
        </p:spPr>
      </p:pic>
      <p:sp>
        <p:nvSpPr>
          <p:cNvPr id="15" name="Shape 1">
            <a:extLst>
              <a:ext uri="{FF2B5EF4-FFF2-40B4-BE49-F238E27FC236}">
                <a16:creationId xmlns:a16="http://schemas.microsoft.com/office/drawing/2014/main" id="{76B80EEB-2709-EF1F-00FA-E619127817C0}"/>
              </a:ext>
            </a:extLst>
          </p:cNvPr>
          <p:cNvSpPr/>
          <p:nvPr/>
        </p:nvSpPr>
        <p:spPr>
          <a:xfrm>
            <a:off x="4359827" y="2002716"/>
            <a:ext cx="4627265" cy="2779416"/>
          </a:xfrm>
          <a:prstGeom prst="rect">
            <a:avLst/>
          </a:prstGeom>
          <a:solidFill>
            <a:srgbClr val="0A2342">
              <a:alpha val="5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253D864-36EE-EBC1-1862-431D9EA5A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310" y="2153645"/>
            <a:ext cx="2415188" cy="2404406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Quadrotors Burn Power Fighting Yaw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05840" cy="4114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257800" y="1417320"/>
            <a:ext cx="338328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8F2FB"/>
            </a:solidFill>
            <a:prstDash val="solid"/>
          </a:ln>
          <a:effectLst>
            <a:outerShdw blurRad="114300" dist="38100" dir="5400000" algn="bl" rotWithShape="0">
              <a:srgbClr val="0A2342">
                <a:alpha val="14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257800" y="1417320"/>
            <a:ext cx="73152" cy="84124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68112" y="1463040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Yaw control 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is a constant power tax in hover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257800" y="2386584"/>
            <a:ext cx="338328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8F2FB"/>
            </a:solidFill>
            <a:prstDash val="solid"/>
          </a:ln>
          <a:effectLst>
            <a:outerShdw blurRad="114300" dist="38100" dir="5400000" algn="bl" rotWithShape="0">
              <a:srgbClr val="0A2342">
                <a:alpha val="14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257800" y="2386584"/>
            <a:ext cx="73152" cy="84124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68112" y="2432304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Props do 100% 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the lifting work, unaided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257800" y="3355848"/>
            <a:ext cx="338328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8F2FB"/>
            </a:solidFill>
            <a:prstDash val="solid"/>
          </a:ln>
          <a:effectLst>
            <a:outerShdw blurRad="114300" dist="38100" dir="5400000" algn="bl" rotWithShape="0">
              <a:srgbClr val="0A2342">
                <a:alpha val="14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257800" y="3355848"/>
            <a:ext cx="73152" cy="84124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68112" y="3401568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Swept air 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is wasted — no surface harvests it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2920" y="483260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Spinning Quadrotor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•  ICUAS 2026  •  RRC, IIIT Hyderabad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66760" y="483260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36A308-B8AA-4504-846C-42910DBE2B1D}" type="slidenum"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64748B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" y="137160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conventional hover, every gram of lift comes from the props alone — and a constant share of that power goes to fighting the airframe's own reaction torque just to hold yaw steady.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703905-1A49-5969-FFA6-30F3BBC056BC}"/>
              </a:ext>
            </a:extLst>
          </p:cNvPr>
          <p:cNvSpPr txBox="1"/>
          <p:nvPr/>
        </p:nvSpPr>
        <p:spPr>
          <a:xfrm>
            <a:off x="1973670" y="2165474"/>
            <a:ext cx="13744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Props: 100% of lift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8FC8DE-371D-47AD-0DD4-0F1A9EF77697}"/>
              </a:ext>
            </a:extLst>
          </p:cNvPr>
          <p:cNvSpPr txBox="1"/>
          <p:nvPr/>
        </p:nvSpPr>
        <p:spPr>
          <a:xfrm>
            <a:off x="1755245" y="4424790"/>
            <a:ext cx="2032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B75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Swept air – no lifting surface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5B758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49C031-FB7D-48E4-0508-47DBE1D3C11B}"/>
              </a:ext>
            </a:extLst>
          </p:cNvPr>
          <p:cNvSpPr txBox="1"/>
          <p:nvPr/>
        </p:nvSpPr>
        <p:spPr>
          <a:xfrm>
            <a:off x="3416740" y="3204579"/>
            <a:ext cx="1402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77C4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Yaw control tax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E77C4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9">
            <a:extLst>
              <a:ext uri="{FF2B5EF4-FFF2-40B4-BE49-F238E27FC236}">
                <a16:creationId xmlns:a16="http://schemas.microsoft.com/office/drawing/2014/main" id="{F56C14E6-5573-10D0-0E46-F433468C3599}"/>
              </a:ext>
            </a:extLst>
          </p:cNvPr>
          <p:cNvSpPr/>
          <p:nvPr/>
        </p:nvSpPr>
        <p:spPr>
          <a:xfrm>
            <a:off x="7106026" y="3577591"/>
            <a:ext cx="1555670" cy="106866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8F2FB"/>
            </a:solidFill>
            <a:prstDash val="solid"/>
          </a:ln>
          <a:effectLst>
            <a:outerShdw blurRad="114300" dist="38100" dir="5400000" algn="bl" rotWithShape="0">
              <a:srgbClr val="0A2342">
                <a:alpha val="14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If We Let It Spin?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05840" cy="4114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3391" y="1244531"/>
            <a:ext cx="4572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A6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Stop suppressing yaw — embrace it.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Let the quadrotor rotate steadily at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8–10 rad/s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 The spin drives tangential airflow over radially-mounted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passive wings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which generate real lift and offload the propellers.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59844" y="2786905"/>
            <a:ext cx="4572000" cy="913449"/>
          </a:xfrm>
          <a:prstGeom prst="roundRect">
            <a:avLst>
              <a:gd name="adj" fmla="val 5517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14300" dist="38100" dir="5400000" algn="bl" rotWithShape="0">
              <a:srgbClr val="0A2342">
                <a:alpha val="14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07933" y="281567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LIFT FROM A SPINNING WING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07933" y="3089998"/>
            <a:ext cx="4134600" cy="269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 = ½ ρ (ω</a:t>
            </a:r>
            <a:r>
              <a:rPr kumimoji="0" lang="en-US" sz="1800" b="0" i="1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r</a:t>
            </a:r>
            <a:r>
              <a:rPr kumimoji="0" lang="en-US" sz="1800" b="0" i="1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) S C</a:t>
            </a:r>
            <a:r>
              <a:rPr kumimoji="0" lang="en-US" sz="1800" b="0" i="1" u="none" strike="noStrike" kern="1200" cap="none" spc="0" normalizeH="0" baseline="-4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07933" y="3418909"/>
            <a:ext cx="4206240" cy="3169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E8F2F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Lift grows with the square of spin rate ω and radius r — for free.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33864" y="3570761"/>
            <a:ext cx="1555670" cy="106866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8F2FB"/>
            </a:solidFill>
            <a:prstDash val="solid"/>
          </a:ln>
          <a:effectLst>
            <a:outerShdw blurRad="114300" dist="38100" dir="5400000" algn="bl" rotWithShape="0">
              <a:srgbClr val="0A2342">
                <a:alpha val="14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79584" y="3465899"/>
            <a:ext cx="1417320" cy="6894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A6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507016" y="4143469"/>
            <a:ext cx="1362456" cy="5038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less thrust needed (hardware)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152936" y="3465899"/>
            <a:ext cx="1417320" cy="6894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A6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180368" y="4143469"/>
            <a:ext cx="1362456" cy="5038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power cut (simulation bound)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5801" y="390531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≈ one full motor's worth of lift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2920" y="483260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Spinning Quadrotor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•  ICUAS 2026  •  RRC, IIIT Hyderabad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366760" y="483260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6B9B97-1C01-4329-8869-EF4781648DFF}" type="slidenum"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64748B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15">
            <a:extLst>
              <a:ext uri="{FF2B5EF4-FFF2-40B4-BE49-F238E27FC236}">
                <a16:creationId xmlns:a16="http://schemas.microsoft.com/office/drawing/2014/main" id="{FD6C37BC-AE01-EF17-32EE-92C20E8F81AC}"/>
              </a:ext>
            </a:extLst>
          </p:cNvPr>
          <p:cNvSpPr/>
          <p:nvPr/>
        </p:nvSpPr>
        <p:spPr>
          <a:xfrm>
            <a:off x="559844" y="3889388"/>
            <a:ext cx="4585038" cy="741295"/>
          </a:xfrm>
          <a:prstGeom prst="roundRect">
            <a:avLst>
              <a:gd name="adj" fmla="val 4706"/>
            </a:avLst>
          </a:prstGeom>
          <a:solidFill>
            <a:srgbClr val="1A6FA8"/>
          </a:solidFill>
          <a:ln w="12700">
            <a:solidFill>
              <a:srgbClr val="333333"/>
            </a:solidFill>
            <a:prstDash val="solid"/>
          </a:ln>
          <a:effectLst>
            <a:outerShdw blurRad="114300" dist="38100" dir="5400000" algn="bl" rotWithShape="0">
              <a:srgbClr val="0A2342">
                <a:alpha val="14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D95FA264-BB28-73C3-2917-EF773FC81DD7}"/>
              </a:ext>
            </a:extLst>
          </p:cNvPr>
          <p:cNvSpPr/>
          <p:nvPr/>
        </p:nvSpPr>
        <p:spPr>
          <a:xfrm>
            <a:off x="658369" y="3802835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≈ one full motor's worth of lift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FF8FB270-BB24-ED37-7FB2-740616DAAB6F}"/>
              </a:ext>
            </a:extLst>
          </p:cNvPr>
          <p:cNvSpPr/>
          <p:nvPr/>
        </p:nvSpPr>
        <p:spPr>
          <a:xfrm>
            <a:off x="687155" y="4185913"/>
            <a:ext cx="4217924" cy="493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8F2F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wings supply about 22.3% of the vehicle's weight — equivalent to retiring one of the four motors entirely.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53D843B8-46E1-22F2-2321-2F3394478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6250" y="830022"/>
            <a:ext cx="3793371" cy="23952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FIRST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Vehicle in Flight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0E2C52"/>
          </a:solidFill>
          <a:ln w="15875">
            <a:solidFill>
              <a:srgbClr val="00B4D8"/>
            </a:solidFill>
            <a:prstDash val="solid"/>
          </a:ln>
          <a:effectLst>
            <a:outerShdw blurRad="114300" dist="38100" dir="5400000" algn="bl" rotWithShape="0">
              <a:srgbClr val="0A2342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 rot="5400000">
            <a:off x="2350008" y="2084832"/>
            <a:ext cx="420624" cy="475488"/>
          </a:xfrm>
          <a:prstGeom prst="triangl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• 2 wings (r = 0.40–0.65 m)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5544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0E2C52"/>
          </a:solidFill>
          <a:ln w="15875">
            <a:solidFill>
              <a:srgbClr val="00B4D8"/>
            </a:solidFill>
            <a:prstDash val="solid"/>
          </a:ln>
          <a:effectLst>
            <a:outerShdw blurRad="114300" dist="38100" dir="5400000" algn="bl" rotWithShape="0">
              <a:srgbClr val="0A2342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 rot="5400000">
            <a:off x="6373368" y="2084832"/>
            <a:ext cx="420624" cy="475488"/>
          </a:xfrm>
          <a:prstGeom prst="triangle">
            <a:avLst/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92040" y="269748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II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92040" y="301752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• 4 wings (r = 0.40–0.65 m)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703320"/>
            <a:ext cx="7589520" cy="749808"/>
          </a:xfrm>
          <a:prstGeom prst="roundRect">
            <a:avLst>
              <a:gd name="adj" fmla="val 12195"/>
            </a:avLst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  <a:effectLst>
            <a:outerShdw blurRad="114300" dist="38100" dir="5400000" algn="bl" rotWithShape="0">
              <a:srgbClr val="0A2342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hlinkClick r:id="" action="ppaction://noaction"/>
          </p:cNvPr>
          <p:cNvSpPr/>
          <p:nvPr/>
        </p:nvSpPr>
        <p:spPr>
          <a:xfrm>
            <a:off x="777240" y="3708731"/>
            <a:ext cx="7589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u="sng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▶  </a:t>
            </a:r>
            <a:r>
              <a:rPr lang="en-US" sz="1900" b="1" u="sng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demonstration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455371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pic>
        <p:nvPicPr>
          <p:cNvPr id="16" name="2_wing spin">
            <a:hlinkClick r:id="" action="ppaction://media"/>
            <a:extLst>
              <a:ext uri="{FF2B5EF4-FFF2-40B4-BE49-F238E27FC236}">
                <a16:creationId xmlns:a16="http://schemas.microsoft.com/office/drawing/2014/main" id="{3BA6D4BD-5FEA-F489-A904-E77051717F1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77240" y="1440180"/>
            <a:ext cx="3623310" cy="2041301"/>
          </a:xfrm>
          <a:prstGeom prst="rect">
            <a:avLst/>
          </a:prstGeom>
        </p:spPr>
      </p:pic>
      <p:pic>
        <p:nvPicPr>
          <p:cNvPr id="17" name="4_wing spin">
            <a:hlinkClick r:id="" action="ppaction://media"/>
            <a:extLst>
              <a:ext uri="{FF2B5EF4-FFF2-40B4-BE49-F238E27FC236}">
                <a16:creationId xmlns:a16="http://schemas.microsoft.com/office/drawing/2014/main" id="{F5139DF4-C9DA-2AE0-60F2-458049DE61E7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768532" y="1440180"/>
            <a:ext cx="3630295" cy="20452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80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803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Spin Rate ω Drives Lift — Quadratically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05840" cy="4114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2920" y="483260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Spinning Quadrotor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•  ICUAS 2026  •  RRC, IIIT Hyderabad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366760" y="483260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39DA22-1E1C-4F1F-97AE-CC34B60499B6}" type="slidenum"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64748B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" name="TextBox Intro"/>
          <p:cNvSpPr txBox="1"/>
          <p:nvPr/>
        </p:nvSpPr>
        <p:spPr>
          <a:xfrm>
            <a:off x="502920" y="1417320"/>
            <a:ext cx="4434840" cy="121615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Letting the vehicle spin at 8–10 rad/s drives clean tangential airflow over each wing. Lift scales with ω²r² — so a steady spin produces real aerodynamic work for free.</a:t>
            </a:r>
          </a:p>
        </p:txBody>
      </p:sp>
      <p:sp>
        <p:nvSpPr>
          <p:cNvPr id="102" name="Shape 102"/>
          <p:cNvSpPr/>
          <p:nvPr/>
        </p:nvSpPr>
        <p:spPr>
          <a:xfrm>
            <a:off x="5074920" y="1417320"/>
            <a:ext cx="3566160" cy="562356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8F2FB"/>
            </a:solidFill>
            <a:prstDash val="solid"/>
          </a:ln>
          <a:effectLst>
            <a:outerShdw blurRad="114300" dist="38100" dir="5400000" algn="bl" rotWithShape="0">
              <a:srgbClr val="0A2342">
                <a:alpha val="14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Shape 103"/>
          <p:cNvSpPr/>
          <p:nvPr/>
        </p:nvSpPr>
        <p:spPr>
          <a:xfrm>
            <a:off x="5074920" y="1417320"/>
            <a:ext cx="73152" cy="56235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Text TangVel"/>
          <p:cNvSpPr/>
          <p:nvPr/>
        </p:nvSpPr>
        <p:spPr>
          <a:xfrm>
            <a:off x="5257800" y="1417320"/>
            <a:ext cx="3291840" cy="5623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12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TANGENTIAL VELOCITY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V(r) = ω</a:t>
            </a:r>
            <a:r>
              <a:rPr kumimoji="0" lang="en-US" sz="1000" b="0" i="1" u="none" strike="noStrike" kern="1200" cap="none" spc="0" normalizeH="0" baseline="-4000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· r</a:t>
            </a:r>
          </a:p>
        </p:txBody>
      </p:sp>
      <p:sp>
        <p:nvSpPr>
          <p:cNvPr id="105" name="Shape 105"/>
          <p:cNvSpPr/>
          <p:nvPr/>
        </p:nvSpPr>
        <p:spPr>
          <a:xfrm>
            <a:off x="5074920" y="2071116"/>
            <a:ext cx="3566160" cy="562356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8F2FB"/>
            </a:solidFill>
            <a:prstDash val="solid"/>
          </a:ln>
          <a:effectLst>
            <a:outerShdw blurRad="114300" dist="38100" dir="5400000" algn="bl" rotWithShape="0">
              <a:srgbClr val="0A2342">
                <a:alpha val="14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6" name="Shape 106"/>
          <p:cNvSpPr/>
          <p:nvPr/>
        </p:nvSpPr>
        <p:spPr>
          <a:xfrm>
            <a:off x="5074920" y="2071116"/>
            <a:ext cx="73152" cy="56235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Text DesignCeiling"/>
          <p:cNvSpPr/>
          <p:nvPr/>
        </p:nvSpPr>
        <p:spPr>
          <a:xfrm>
            <a:off x="5257800" y="2071116"/>
            <a:ext cx="3291840" cy="5623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12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DESIGN CEILING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ω ≤ 10 rad/s ,  l ≤ 0.65 m</a:t>
            </a:r>
          </a:p>
        </p:txBody>
      </p:sp>
      <p:sp>
        <p:nvSpPr>
          <p:cNvPr id="108" name="Text OptHeader"/>
          <p:cNvSpPr/>
          <p:nvPr/>
        </p:nvSpPr>
        <p:spPr>
          <a:xfrm>
            <a:off x="502920" y="272491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  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Rotors spin clockwise; motor position 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mbria Math"/>
                <a:ea typeface="+mn-ea"/>
                <a:cs typeface="+mn-cs"/>
              </a:rPr>
              <a:t>l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and cant angle γ are tuned jointly for the optimal lift-to-spin ratio.</a:t>
            </a:r>
          </a:p>
        </p:txBody>
      </p:sp>
      <p:sp>
        <p:nvSpPr>
          <p:cNvPr id="116" name="Shape 116"/>
          <p:cNvSpPr/>
          <p:nvPr/>
        </p:nvSpPr>
        <p:spPr>
          <a:xfrm>
            <a:off x="502920" y="3008376"/>
            <a:ext cx="4000500" cy="1426104"/>
          </a:xfrm>
          <a:prstGeom prst="roundRect">
            <a:avLst>
              <a:gd name="adj" fmla="val 3219"/>
            </a:avLst>
          </a:prstGeom>
          <a:solidFill>
            <a:srgbClr val="FFFFFF"/>
          </a:solidFill>
          <a:ln w="12700">
            <a:solidFill>
              <a:srgbClr val="E8F2FB"/>
            </a:solidFill>
            <a:prstDash val="solid"/>
          </a:ln>
          <a:effectLst>
            <a:outerShdw blurRad="114300" dist="38100" dir="5400000" algn="bl" rotWithShape="0">
              <a:srgbClr val="0A2342">
                <a:alpha val="14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Shape 117"/>
          <p:cNvSpPr/>
          <p:nvPr/>
        </p:nvSpPr>
        <p:spPr>
          <a:xfrm>
            <a:off x="502920" y="3008376"/>
            <a:ext cx="4000500" cy="329184"/>
          </a:xfrm>
          <a:prstGeom prst="roundRect">
            <a:avLst>
              <a:gd name="adj" fmla="val 13944"/>
            </a:avLst>
          </a:prstGeom>
          <a:solidFill>
            <a:srgbClr val="1A6FA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Shape 118"/>
          <p:cNvSpPr/>
          <p:nvPr/>
        </p:nvSpPr>
        <p:spPr>
          <a:xfrm>
            <a:off x="502920" y="3291659"/>
            <a:ext cx="4000500" cy="45901"/>
          </a:xfrm>
          <a:prstGeom prst="rect">
            <a:avLst/>
          </a:prstGeom>
          <a:solidFill>
            <a:srgbClr val="1A6FA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Text 119"/>
          <p:cNvSpPr txBox="1"/>
          <p:nvPr/>
        </p:nvSpPr>
        <p:spPr>
          <a:xfrm>
            <a:off x="640080" y="3008376"/>
            <a:ext cx="3726180" cy="32918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MOTOR POSITION (l)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685800" y="3429000"/>
            <a:ext cx="3634740" cy="9140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Larger l increases yaw-torque lever arm, but lowers the air velocity the wing sees — reducing its lift. The optimum l balances yaw authority against aerodynamic efficiency.</a:t>
            </a:r>
          </a:p>
        </p:txBody>
      </p:sp>
      <p:sp>
        <p:nvSpPr>
          <p:cNvPr id="121" name="Shape 121"/>
          <p:cNvSpPr/>
          <p:nvPr/>
        </p:nvSpPr>
        <p:spPr>
          <a:xfrm>
            <a:off x="4640580" y="3008376"/>
            <a:ext cx="4000500" cy="1426104"/>
          </a:xfrm>
          <a:prstGeom prst="roundRect">
            <a:avLst>
              <a:gd name="adj" fmla="val 3219"/>
            </a:avLst>
          </a:prstGeom>
          <a:solidFill>
            <a:srgbClr val="FFFFFF"/>
          </a:solidFill>
          <a:ln w="12700">
            <a:solidFill>
              <a:srgbClr val="E8F2FB"/>
            </a:solidFill>
            <a:prstDash val="solid"/>
          </a:ln>
          <a:effectLst>
            <a:outerShdw blurRad="114300" dist="38100" dir="5400000" algn="bl" rotWithShape="0">
              <a:srgbClr val="0A2342">
                <a:alpha val="14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Shape 122"/>
          <p:cNvSpPr/>
          <p:nvPr/>
        </p:nvSpPr>
        <p:spPr>
          <a:xfrm>
            <a:off x="4640580" y="3008376"/>
            <a:ext cx="4000500" cy="329184"/>
          </a:xfrm>
          <a:prstGeom prst="roundRect">
            <a:avLst>
              <a:gd name="adj" fmla="val 13944"/>
            </a:avLst>
          </a:prstGeom>
          <a:solidFill>
            <a:srgbClr val="0A234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Shape 123"/>
          <p:cNvSpPr/>
          <p:nvPr/>
        </p:nvSpPr>
        <p:spPr>
          <a:xfrm>
            <a:off x="4640580" y="3291659"/>
            <a:ext cx="4000500" cy="45901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Text 124"/>
          <p:cNvSpPr txBox="1"/>
          <p:nvPr/>
        </p:nvSpPr>
        <p:spPr>
          <a:xfrm>
            <a:off x="4777740" y="3008376"/>
            <a:ext cx="3726180" cy="32918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MOTOR CANT ANGLE (</a:t>
            </a:r>
            <a:r>
              <a:rPr kumimoji="0" lang="el-GR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4823460" y="3429000"/>
            <a:ext cx="3634740" cy="9140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larger cant angle redirects thrust into spin-up torque, but diverts it away from vertical and wing lift. The optimum </a:t>
            </a:r>
            <a:r>
              <a:rPr kumimoji="0" lang="el-GR" sz="1300" b="0" i="0" u="none" strike="noStrike" kern="120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balances yaw torque against total lift.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Design: Two Configurations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05840" cy="4114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886200" cy="3241548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8F2FB"/>
            </a:solidFill>
            <a:prstDash val="solid"/>
          </a:ln>
          <a:effectLst>
            <a:outerShdw blurRad="114300" dist="38100" dir="5400000" algn="bl" rotWithShape="0">
              <a:srgbClr val="0A2342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54038" y="1371600"/>
            <a:ext cx="3875087" cy="566928"/>
          </a:xfrm>
          <a:prstGeom prst="roundRect">
            <a:avLst>
              <a:gd name="adj" fmla="val 14516"/>
            </a:avLst>
          </a:prstGeom>
          <a:solidFill>
            <a:srgbClr val="1A6FA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1699592"/>
            <a:ext cx="3886200" cy="246888"/>
          </a:xfrm>
          <a:prstGeom prst="rect">
            <a:avLst/>
          </a:prstGeom>
          <a:solidFill>
            <a:srgbClr val="1A6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137160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I — Asymmetric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1908837"/>
            <a:ext cx="3520440" cy="9052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motors at r = 0.5 m (10° cant)</a:t>
            </a:r>
            <a:endParaRPr lang="en-US" sz="130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motors at r = 0.3 m</a:t>
            </a:r>
            <a:endParaRPr lang="en-US" sz="130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wings spanning r = 0.40–0.65 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333985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two-wing test rig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3886200" cy="3241548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8F2FB"/>
            </a:solidFill>
            <a:prstDash val="solid"/>
          </a:ln>
          <a:effectLst>
            <a:outerShdw blurRad="114300" dist="38100" dir="5400000" algn="bl" rotWithShape="0">
              <a:srgbClr val="0A2342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60913" y="1371600"/>
            <a:ext cx="3873499" cy="566928"/>
          </a:xfrm>
          <a:prstGeom prst="roundRect">
            <a:avLst>
              <a:gd name="adj" fmla="val 14516"/>
            </a:avLst>
          </a:prstGeom>
          <a:solidFill>
            <a:srgbClr val="0A234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754880" y="1702476"/>
            <a:ext cx="3886200" cy="24688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92040" y="137160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II — Symmetric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20640" y="1947078"/>
            <a:ext cx="35204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motors at r = 0.3 m (10° cant)</a:t>
            </a:r>
            <a:endParaRPr lang="en-US" sz="130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wings spanning r = 0.40–0.65 m</a:t>
            </a:r>
            <a:endParaRPr lang="en-US" sz="130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mass &amp; aerodynamic loading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4333985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four-wing platform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590288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geometry: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wings span r = 0.40–0.65 m with chord ≈ 0.25–0.30 m; motor cant angles tilt thrust to sustain the spin.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83260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Spinning Quadrotor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ICUAS 2026  •  RRC, IIIT Hyderabad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366760" y="483260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fld id="{185F3F12-4E33-4F48-B62E-DAD85F74F75F}" type="slidenum">
              <a:rPr lang="en-US" sz="900" dirty="0">
                <a:solidFill>
                  <a:srgbClr val="64748B"/>
                </a:solidFill>
              </a:rPr>
              <a:t>6</a:t>
            </a:fld>
            <a:endParaRPr lang="en-US" sz="900" dirty="0">
              <a:solidFill>
                <a:srgbClr val="64748B"/>
              </a:solidFill>
            </a:endParaRPr>
          </a:p>
        </p:txBody>
      </p:sp>
      <p:pic>
        <p:nvPicPr>
          <p:cNvPr id="21" name="Image 0" descr="/sessions/optimistic-stoic-feynman/mnt/ICUAS presentation/ICUAS_overleaf/clean 2 wings.jpeg">
            <a:extLst>
              <a:ext uri="{FF2B5EF4-FFF2-40B4-BE49-F238E27FC236}">
                <a16:creationId xmlns:a16="http://schemas.microsoft.com/office/drawing/2014/main" id="{398FB862-530A-FF46-AD0B-A9683E1839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52580" y="2854551"/>
            <a:ext cx="2678002" cy="1505574"/>
          </a:xfrm>
          <a:prstGeom prst="roundRect">
            <a:avLst>
              <a:gd name="adj" fmla="val 7683"/>
            </a:avLst>
          </a:prstGeom>
          <a:ln>
            <a:noFill/>
          </a:ln>
          <a:effectLst/>
        </p:spPr>
      </p:pic>
      <p:pic>
        <p:nvPicPr>
          <p:cNvPr id="22" name="Image 1" descr="/sessions/optimistic-stoic-feynman/mnt/ICUAS presentation/ICUAS_overleaf/4 wing.jpg">
            <a:extLst>
              <a:ext uri="{FF2B5EF4-FFF2-40B4-BE49-F238E27FC236}">
                <a16:creationId xmlns:a16="http://schemas.microsoft.com/office/drawing/2014/main" id="{DA83127A-D413-5ECF-A843-2F15AB59B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49301" y="2814039"/>
            <a:ext cx="2463118" cy="1563279"/>
          </a:xfrm>
          <a:prstGeom prst="roundRect">
            <a:avLst>
              <a:gd name="adj" fmla="val 5245"/>
            </a:avLst>
          </a:prstGeom>
          <a:ln>
            <a:noFill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Airfoil Selection: Meet 'Franky'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05840" cy="4114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8 low-Re candidates</a:t>
            </a:r>
            <a:endParaRPr lang="en-US" sz="14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AG-14, RG-14, RG-15, S1223, SD7032, SD7037, SD7062, NACA 4412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657600" cy="786384"/>
          </a:xfrm>
          <a:prstGeom prst="roundRect">
            <a:avLst>
              <a:gd name="adj" fmla="val 9302"/>
            </a:avLst>
          </a:prstGeom>
          <a:solidFill>
            <a:srgbClr val="0A2342"/>
          </a:solidFill>
          <a:ln w="12700">
            <a:solidFill>
              <a:srgbClr val="333333"/>
            </a:solidFill>
            <a:prstDash val="solid"/>
          </a:ln>
          <a:effectLst>
            <a:outerShdw blurRad="114300" dist="38100" dir="5400000" algn="bl" rotWithShape="0">
              <a:srgbClr val="0A2342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85800" y="221284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SCORE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85800" y="2432304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= 0.50 (C</a:t>
            </a:r>
            <a:r>
              <a:rPr lang="en-US" sz="1000" i="1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</a:t>
            </a:r>
            <a:r>
              <a:rPr lang="en-US" sz="1000" i="1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+ 0.30 C</a:t>
            </a:r>
            <a:r>
              <a:rPr lang="en-US" sz="1000" i="1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+ 0.20 C</a:t>
            </a:r>
            <a:r>
              <a:rPr lang="en-US" sz="1000" i="1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p,min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SD7037</a:t>
            </a: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wins up to Re = 6.0×10⁴; the custom </a:t>
            </a:r>
            <a:r>
              <a:rPr lang="en-US" sz="13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Franky</a:t>
            </a: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26% blend of S1223 + SD7037 — wins above 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069080"/>
            <a:ext cx="17556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8F2FB"/>
            </a:solidFill>
            <a:prstDash val="solid"/>
          </a:ln>
          <a:effectLst>
            <a:outerShdw blurRad="114300" dist="38100" dir="5400000" algn="bl" rotWithShape="0">
              <a:srgbClr val="0A2342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94360" y="4160520"/>
            <a:ext cx="1664208" cy="37088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1792" y="4482755"/>
            <a:ext cx="1609344" cy="271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S1223 + SD7037 blend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50592" y="4069080"/>
            <a:ext cx="17556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8F2FB"/>
            </a:solidFill>
            <a:prstDash val="solid"/>
          </a:ln>
          <a:effectLst>
            <a:outerShdw blurRad="114300" dist="38100" dir="5400000" algn="bl" rotWithShape="0">
              <a:srgbClr val="0A2342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496312" y="4160520"/>
            <a:ext cx="1664208" cy="37088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~ 10⁵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23744" y="4482755"/>
            <a:ext cx="1609344" cy="271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low-Re spinning regime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26280" y="133502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 OPERATING POINTS (TABLE I)</a:t>
            </a:r>
            <a:endParaRPr lang="en-US" sz="10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627632"/>
          <a:ext cx="4114800" cy="155448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40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(m)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(m/s)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Airfoil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Cl/Cd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2.2×10⁴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SD7037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4.6×10⁴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6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Franky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8.5×10⁴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6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Franky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9.1×10⁴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6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Franky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526280" y="32461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L/D peaks at 39.6 on the outer span — where tangential speed is highest and Franky operates at its design point.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26280" y="3931920"/>
            <a:ext cx="4114800" cy="841248"/>
          </a:xfrm>
          <a:prstGeom prst="roundRect">
            <a:avLst>
              <a:gd name="adj" fmla="val 8696"/>
            </a:avLst>
          </a:prstGeom>
          <a:solidFill>
            <a:srgbClr val="1A6FA8"/>
          </a:solidFill>
          <a:ln w="12700">
            <a:solidFill>
              <a:srgbClr val="333333"/>
            </a:solidFill>
            <a:prstDash val="solid"/>
          </a:ln>
          <a:effectLst>
            <a:outerShdw blurRad="114300" dist="38100" dir="5400000" algn="bl" rotWithShape="0">
              <a:srgbClr val="0A2342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681728" y="4005072"/>
            <a:ext cx="38221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blend?  </a:t>
            </a:r>
            <a:r>
              <a:rPr lang="en-US" sz="1200" dirty="0">
                <a:solidFill>
                  <a:srgbClr val="E8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S1223 brings high camber &amp; lift; SD7037 brings clean low-Re behavior. Franky keeps both across the spinning span.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02920" y="483260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Spinning Quadrotor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ICUAS 2026  •  RRC, IIIT Hyderabad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366760" y="483260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fld id="{691CEFE1-E0D8-4210-BA1D-795C77596263}" type="slidenum">
              <a:rPr lang="en-US" sz="900" dirty="0">
                <a:solidFill>
                  <a:srgbClr val="64748B"/>
                </a:solidFill>
              </a:rPr>
              <a:t>7</a:t>
            </a:fld>
            <a:endParaRPr lang="en-US" sz="90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0"/>
          <p:cNvSpPr txBox="1"/>
          <p:nvPr/>
        </p:nvSpPr>
        <p:spPr>
          <a:xfrm>
            <a:off x="41148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B4"/>
                </a:solidFill>
              </a:rPr>
              <a:t>METHODOLOGY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11480" y="429768"/>
            <a:ext cx="7315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</a:rPr>
              <a:t>Franky Wins Where We Fly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6A8F"/>
                </a:solidFill>
              </a:rPr>
              <a:t>SD7037 leads at low Re, but Franky dominates above Re ≈ 6×10⁴ — exactly our operating regime.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645920" cy="36576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482803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Spinning Quadrotor  •  ICUAS 2026  •  RRC, IIIT Hyderabad</a:t>
            </a:r>
          </a:p>
        </p:txBody>
      </p:sp>
      <p:pic>
        <p:nvPicPr>
          <p:cNvPr id="7" name="Picture 6" descr="airfoil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575" y="1353312"/>
            <a:ext cx="6299105" cy="3456432"/>
          </a:xfrm>
          <a:prstGeom prst="rect">
            <a:avLst/>
          </a:prstGeom>
        </p:spPr>
      </p:pic>
      <p:sp>
        <p:nvSpPr>
          <p:cNvPr id="99" name="Text 22"/>
          <p:cNvSpPr/>
          <p:nvPr/>
        </p:nvSpPr>
        <p:spPr>
          <a:xfrm>
            <a:off x="8366760" y="483260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fld id="{A769DA71-7E8F-4F0A-9EF3-988D722D711C}" type="slidenum">
              <a:rPr lang="en-US" sz="900" dirty="0">
                <a:solidFill>
                  <a:srgbClr val="64748B"/>
                </a:solidFill>
              </a:rPr>
              <a:t>8</a:t>
            </a:fld>
            <a:endParaRPr lang="en-US" sz="90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Three-Stage Validation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05840" cy="4114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54203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8F2FB"/>
            </a:solidFill>
            <a:prstDash val="solid"/>
          </a:ln>
          <a:effectLst>
            <a:outerShdw blurRad="114300" dist="38100" dir="5400000" algn="bl" rotWithShape="0">
              <a:srgbClr val="0A2342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55306" y="1554480"/>
            <a:ext cx="2542032" cy="502920"/>
          </a:xfrm>
          <a:prstGeom prst="roundRect">
            <a:avLst>
              <a:gd name="adj" fmla="val 21339"/>
            </a:avLst>
          </a:prstGeom>
          <a:solidFill>
            <a:srgbClr val="00B4D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Shape 6"/>
          <p:cNvSpPr/>
          <p:nvPr/>
        </p:nvSpPr>
        <p:spPr>
          <a:xfrm>
            <a:off x="548640" y="1947672"/>
            <a:ext cx="2555365" cy="21945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58368" y="157276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17556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BEMT Simulation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5.27 N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0080" y="2852928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wing lift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3154680"/>
            <a:ext cx="22128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Blade-element momentum model of the full spinning vehicle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27832" y="1554480"/>
            <a:ext cx="254203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8F2FB"/>
            </a:solidFill>
            <a:prstDash val="solid"/>
          </a:ln>
          <a:effectLst>
            <a:outerShdw blurRad="114300" dist="38100" dir="5400000" algn="bl" rotWithShape="0">
              <a:srgbClr val="0A2342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41165" y="1558354"/>
            <a:ext cx="2513523" cy="502920"/>
          </a:xfrm>
          <a:prstGeom prst="roundRect">
            <a:avLst>
              <a:gd name="adj" fmla="val 18182"/>
            </a:avLst>
          </a:prstGeom>
          <a:solidFill>
            <a:srgbClr val="1A6FA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34499" y="1947672"/>
            <a:ext cx="2526222" cy="210312"/>
          </a:xfrm>
          <a:prstGeom prst="rect">
            <a:avLst/>
          </a:prstGeom>
          <a:solidFill>
            <a:srgbClr val="1A6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337560" y="157276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37560" y="17556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(MRF)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319272" y="224028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4.50 N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3319272" y="2852928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wing lift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92424" y="3154680"/>
            <a:ext cx="22128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k-ω SST, ANSYS Fluent, moving reference frame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07024" y="1554480"/>
            <a:ext cx="254203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8F2FB"/>
            </a:solidFill>
            <a:prstDash val="solid"/>
          </a:ln>
          <a:effectLst>
            <a:outerShdw blurRad="114300" dist="38100" dir="5400000" algn="bl" rotWithShape="0">
              <a:srgbClr val="0A2342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921375" y="1554480"/>
            <a:ext cx="2520950" cy="502920"/>
          </a:xfrm>
          <a:prstGeom prst="roundRect">
            <a:avLst>
              <a:gd name="adj" fmla="val 18182"/>
            </a:avLst>
          </a:prstGeom>
          <a:solidFill>
            <a:srgbClr val="0A234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915024" y="1952244"/>
            <a:ext cx="2534032" cy="21031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016752" y="157276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16752" y="17556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998464" y="224028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2.10 N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5998464" y="2852928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wing lift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71616" y="3154680"/>
            <a:ext cx="22128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Instrumented spinning test stand, Config II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069080"/>
            <a:ext cx="80924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Idealized BEMT sets the upper bound; CFD resolves the real flow; hardware proves it flies. The consistent downward trend reflects un-modeled losses, interference, and structural realities.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02920" y="483260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Spinning Quadrotor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ICUAS 2026  •  RRC, IIIT Hyderabad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366760" y="483260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fld id="{3585976B-D399-4CC9-9E7D-4E19824A4429}" type="slidenum">
              <a:rPr lang="en-US" sz="900" dirty="0">
                <a:solidFill>
                  <a:srgbClr val="64748B"/>
                </a:solidFill>
              </a:rPr>
              <a:t>9</a:t>
            </a:fld>
            <a:endParaRPr lang="en-US" sz="90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Simulation: An Idealized Upper Bound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05840" cy="4114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9385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8F2FB"/>
            </a:solidFill>
            <a:prstDash val="solid"/>
          </a:ln>
          <a:effectLst>
            <a:outerShdw blurRad="114300" dist="38100" dir="5400000" algn="bl" rotWithShape="0">
              <a:srgbClr val="0A2342">
                <a:alpha val="14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1847088" cy="64190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A6F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67.2%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21792" y="2133295"/>
            <a:ext cx="1792224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weight carried by wings (5.27 N of 7.85 N)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615184" y="1417320"/>
            <a:ext cx="19385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8F2FB"/>
            </a:solidFill>
            <a:prstDash val="solid"/>
          </a:ln>
          <a:effectLst>
            <a:outerShdw blurRad="114300" dist="38100" dir="5400000" algn="bl" rotWithShape="0">
              <a:srgbClr val="0A2342">
                <a:alpha val="14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60904" y="1508760"/>
            <a:ext cx="1847088" cy="64190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57.1%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688336" y="2133295"/>
            <a:ext cx="1792224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power reduction vs. motor-only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5488" y="2894725"/>
            <a:ext cx="3886200" cy="1737360"/>
          </a:xfrm>
          <a:prstGeom prst="roundRect">
            <a:avLst>
              <a:gd name="adj" fmla="val 4737"/>
            </a:avLst>
          </a:prstGeom>
          <a:solidFill>
            <a:srgbClr val="0A2342"/>
          </a:solidFill>
          <a:ln w="12700">
            <a:solidFill>
              <a:srgbClr val="333333"/>
            </a:solidFill>
            <a:prstDash val="solid"/>
          </a:ln>
          <a:effectLst>
            <a:outerShdw blurRad="114300" dist="38100" dir="5400000" algn="bl" rotWithShape="0">
              <a:srgbClr val="0A2342">
                <a:alpha val="14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76656" y="2986165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WHERE THE 52.3 W GOES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76656" y="3306205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37.6 W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8F2F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residual 32.8% of weight (2.58 N) on motor thrust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14.7 W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8F2F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sustains the spin against 1.043 N·m of wing drag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76656" y="4101733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E8F2F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Motor yaw torque tracks wing drag within 1% (1.033 vs 1.043 N·m) — the spin is self-sustaining.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02920" y="483260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Spinning Quadrotor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•  ICUAS 2026  •  RRC, IIIT Hyderabad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66760" y="483260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D318F-702C-464A-BF0E-EC64F4928E2F}" type="slidenum"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64748B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" name="Picture 27" descr="5_power_waterf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1305009"/>
            <a:ext cx="4386521" cy="33623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22% Less Thrust, In Reality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05840" cy="4114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F2FB"/>
            </a:solidFill>
            <a:prstDash val="solid"/>
          </a:ln>
          <a:effectLst>
            <a:outerShdw blurRad="114300" dist="38100" dir="5400000" algn="bl" rotWithShape="0">
              <a:srgbClr val="0A2342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1828800" cy="54681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1792" y="1981505"/>
            <a:ext cx="1773936" cy="3995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required thrust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96896" y="137160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F2FB"/>
            </a:solidFill>
            <a:prstDash val="solid"/>
          </a:ln>
          <a:effectLst>
            <a:outerShdw blurRad="114300" dist="38100" dir="5400000" algn="bl" rotWithShape="0">
              <a:srgbClr val="0A2342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642616" y="1463040"/>
            <a:ext cx="1828800" cy="54681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</a:t>
            </a:r>
          </a:p>
        </p:txBody>
      </p:sp>
      <p:sp>
        <p:nvSpPr>
          <p:cNvPr id="11" name="Text 9"/>
          <p:cNvSpPr/>
          <p:nvPr/>
        </p:nvSpPr>
        <p:spPr>
          <a:xfrm>
            <a:off x="2670048" y="1981505"/>
            <a:ext cx="1773936" cy="3995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of stable spin rate ω (rad/s)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45152" y="137160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F2FB"/>
            </a:solidFill>
            <a:prstDash val="solid"/>
          </a:ln>
          <a:effectLst>
            <a:outerShdw blurRad="114300" dist="38100" dir="5400000" algn="bl" rotWithShape="0">
              <a:srgbClr val="0A2342">
                <a:alpha val="14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4690872" y="1465326"/>
            <a:ext cx="1828800" cy="54681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53.5 g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718304" y="1981505"/>
            <a:ext cx="1773936" cy="3995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93408" y="1371600"/>
            <a:ext cx="194767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F2FB"/>
            </a:solidFill>
            <a:prstDash val="solid"/>
          </a:ln>
          <a:effectLst>
            <a:outerShdw blurRad="114300" dist="38100" dir="5400000" algn="bl" rotWithShape="0">
              <a:srgbClr val="0A2342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739128" y="1463040"/>
            <a:ext cx="1856232" cy="54681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 g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766560" y="1981505"/>
            <a:ext cx="1801368" cy="3995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per wing (2-wing rig)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2578608"/>
            <a:ext cx="8092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RESULTS (TABLE II)</a:t>
            </a:r>
            <a:endParaRPr lang="en-US" sz="10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52928"/>
          <a:ext cx="8092440" cy="1645920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 (g)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DSHOT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Thrust (g)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Wing lift (g)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Wing share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Stationary, 4 wings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Spinning, 4 wings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6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Stationary, 2 wings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Spinning, 2 wings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6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48640" y="443484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r>
              <a:rPr lang="en-US" sz="11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spinning drops DSHOT demand from 1809→1487 (4-wing) and 1339→1133 (2-wing). Both rigs converge on the same 22.3% weight offset — the wings reliably retire roughly one motor's lift.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02920" y="483260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Spinning Quadrotor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ICUAS 2026  •  RRC, IIIT Hyderabad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366760" y="483260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fld id="{7B08FE58-91E7-4DA0-B767-92E3A14DE407}" type="slidenum">
              <a:rPr lang="en-US" sz="900" dirty="0">
                <a:solidFill>
                  <a:srgbClr val="64748B"/>
                </a:solidFill>
              </a:rPr>
              <a:t>11</a:t>
            </a:fld>
            <a:endParaRPr lang="en-US" sz="900" dirty="0">
              <a:solidFill>
                <a:srgbClr val="64748B"/>
              </a:solidFill>
            </a:endParaRPr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D3D7C532-EFD4-7E14-A717-5C719669C1F7}"/>
              </a:ext>
            </a:extLst>
          </p:cNvPr>
          <p:cNvSpPr/>
          <p:nvPr/>
        </p:nvSpPr>
        <p:spPr>
          <a:xfrm>
            <a:off x="4704588" y="2012137"/>
            <a:ext cx="1801368" cy="3995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per wing (4-wing rig)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E3369C-32DF-6D73-EEBE-A14D019ED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3B49A1-0DC9-B43D-D2C0-CA5F985B0D4A}"/>
              </a:ext>
            </a:extLst>
          </p:cNvPr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6184FF4-6997-41F5-7A46-76925FCB3122}"/>
              </a:ext>
            </a:extLst>
          </p:cNvPr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DA87D3F-FE5B-DF81-F2FF-F86F5FB205CF}"/>
              </a:ext>
            </a:extLst>
          </p:cNvPr>
          <p:cNvSpPr/>
          <p:nvPr/>
        </p:nvSpPr>
        <p:spPr>
          <a:xfrm>
            <a:off x="475488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600" b="1" dirty="0">
                <a:solidFill>
                  <a:srgbClr val="0A2342"/>
                </a:solidFill>
              </a:rPr>
              <a:t>Hardware: Experimental Hover Performance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9573ACE-DD43-B1E2-B3B1-E8E86F05B5A2}"/>
              </a:ext>
            </a:extLst>
          </p:cNvPr>
          <p:cNvSpPr/>
          <p:nvPr/>
        </p:nvSpPr>
        <p:spPr>
          <a:xfrm>
            <a:off x="502920" y="1115568"/>
            <a:ext cx="1005840" cy="4114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1903E77B-55E8-F213-1726-CAB911F4F578}"/>
              </a:ext>
            </a:extLst>
          </p:cNvPr>
          <p:cNvSpPr/>
          <p:nvPr/>
        </p:nvSpPr>
        <p:spPr>
          <a:xfrm>
            <a:off x="502920" y="483260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Spinning Quadrotor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ICUAS 2026  •  RRC, IIIT Hyderabad</a:t>
            </a:r>
            <a:endParaRPr lang="en-US" sz="85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6CB3D156-250C-7460-7542-EC17EE791B5B}"/>
              </a:ext>
            </a:extLst>
          </p:cNvPr>
          <p:cNvSpPr/>
          <p:nvPr/>
        </p:nvSpPr>
        <p:spPr>
          <a:xfrm>
            <a:off x="8366760" y="483260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fld id="{35DE45C3-1768-44AB-B1EE-82F61CF14E8B}" type="slidenum">
              <a:rPr lang="en-US" sz="900" dirty="0">
                <a:solidFill>
                  <a:srgbClr val="64748B"/>
                </a:solidFill>
              </a:rPr>
              <a:t>12</a:t>
            </a:fld>
            <a:endParaRPr lang="en-US" sz="900" dirty="0">
              <a:solidFill>
                <a:srgbClr val="64748B"/>
              </a:solidFill>
            </a:endParaRPr>
          </a:p>
        </p:txBody>
      </p:sp>
      <p:pic>
        <p:nvPicPr>
          <p:cNvPr id="23" name="Image 0" descr="/sessions/optimistic-stoic-feynman/mnt/ICUAS presentation/ICUAS_overleaf/Comparison.png">
            <a:extLst>
              <a:ext uri="{FF2B5EF4-FFF2-40B4-BE49-F238E27FC236}">
                <a16:creationId xmlns:a16="http://schemas.microsoft.com/office/drawing/2014/main" id="{585A6E5A-7DAC-915B-4CC4-346D528AB5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56025" y="1197865"/>
            <a:ext cx="6068526" cy="363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611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05840" cy="4114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SHOWED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4023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spinning-hover architecture that replaces yaw suppression with intentional rotation + passive lift.</a:t>
            </a:r>
            <a:endParaRPr lang="en-US" sz="130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low-Re airfoil, 'Franky' (26% S1223 + SD7037), tuned for the spinning span.</a:t>
            </a:r>
            <a:endParaRPr lang="en-US" sz="130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Multi-fidelity validation: BEMT → CFD → hardware, all confirming meaningful wing lift.</a:t>
            </a:r>
            <a:endParaRPr lang="en-US" sz="1300" dirty="0"/>
          </a:p>
          <a:p>
            <a:pPr marL="152400" indent="-152400" algn="l"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thrust reduction in flight; up to 57% power bound in idealized simulation.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1371600"/>
            <a:ext cx="3840480" cy="2331720"/>
          </a:xfrm>
          <a:prstGeom prst="roundRect">
            <a:avLst>
              <a:gd name="adj" fmla="val 3529"/>
            </a:avLst>
          </a:prstGeom>
          <a:solidFill>
            <a:srgbClr val="0A2342"/>
          </a:solidFill>
          <a:ln w="12700">
            <a:solidFill>
              <a:srgbClr val="333333"/>
            </a:solidFill>
            <a:prstDash val="solid"/>
          </a:ln>
          <a:effectLst>
            <a:outerShdw blurRad="114300" dist="38100" dir="5400000" algn="bl" rotWithShape="0">
              <a:srgbClr val="0A2342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983480" y="148132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GOES NEXT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83480" y="1773936"/>
            <a:ext cx="3520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1250" dirty="0">
                <a:solidFill>
                  <a:srgbClr val="E8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systems built to leverage and stabilize the system, (taking gyroscopic /Coriolis terms into account)</a:t>
            </a:r>
          </a:p>
          <a:p>
            <a:pPr marL="152400" indent="-152400" algn="l">
              <a:buSzPct val="100000"/>
              <a:buChar char="•"/>
            </a:pPr>
            <a:r>
              <a:rPr lang="en-US" sz="1250" dirty="0">
                <a:solidFill>
                  <a:srgbClr val="E8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stable spin rates.</a:t>
            </a:r>
          </a:p>
          <a:p>
            <a:pPr marL="152400" indent="-152400" algn="l">
              <a:buSzPct val="100000"/>
              <a:buChar char="•"/>
            </a:pPr>
            <a:r>
              <a:rPr lang="en-US" sz="1250" dirty="0">
                <a:solidFill>
                  <a:srgbClr val="E8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 of the system to single motor loss</a:t>
            </a:r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8092440" cy="868680"/>
          </a:xfrm>
          <a:prstGeom prst="roundRect">
            <a:avLst>
              <a:gd name="adj" fmla="val 8421"/>
            </a:avLst>
          </a:prstGeom>
          <a:solidFill>
            <a:srgbClr val="1A6FA8"/>
          </a:solidFill>
          <a:ln w="12700">
            <a:solidFill>
              <a:srgbClr val="333333"/>
            </a:solidFill>
            <a:prstDash val="solid"/>
          </a:ln>
          <a:effectLst>
            <a:outerShdw blurRad="114300" dist="38100" dir="5400000" algn="bl" rotWithShape="0">
              <a:srgbClr val="0A2342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396849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E8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206240"/>
            <a:ext cx="7726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Video:  </a:t>
            </a: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youtu.be/q07RIcLkxVw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Code:  </a:t>
            </a: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github.com/pyromania99/spinning-quadrotor-hover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483260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Spinning Quadrotor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ICUAS 2026  •  RRC, IIIT Hyderabad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366760" y="483260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fld id="{1FECD8A5-89B9-4A93-8E0D-B82CD3A99910}" type="slidenum">
              <a:rPr lang="en-US" sz="900" dirty="0">
                <a:solidFill>
                  <a:srgbClr val="64748B"/>
                </a:solidFill>
              </a:rPr>
              <a:t>13</a:t>
            </a:fld>
            <a:endParaRPr lang="en-US" sz="90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594360"/>
            <a:ext cx="8321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kumimoji="0" lang="en-US" sz="5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38912" y="18745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38912" y="2514600"/>
            <a:ext cx="5303520" cy="1874520"/>
          </a:xfrm>
          <a:prstGeom prst="roundRect">
            <a:avLst>
              <a:gd name="adj" fmla="val 3415"/>
            </a:avLst>
          </a:prstGeom>
          <a:solidFill>
            <a:srgbClr val="0D2D52"/>
          </a:solidFill>
          <a:ln w="12700">
            <a:solidFill>
              <a:srgbClr val="1A4A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21792" y="260604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Aniketh Parkala
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anikethparkala@gmail.com
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AA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Robotics Research Center, IIIT Hyderabad
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AA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github.com/pyromania99/spinning-quadrotor-hover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89320" y="2514600"/>
            <a:ext cx="2852928" cy="1874520"/>
          </a:xfrm>
          <a:prstGeom prst="roundRect">
            <a:avLst>
              <a:gd name="adj" fmla="val 3415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89320" y="2578608"/>
            <a:ext cx="2852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1" i="0" u="none" strike="noStrike" kern="1200" cap="none" spc="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89320" y="3456432"/>
            <a:ext cx="28529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less thrust needed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 hardware tests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38912" y="482346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 MeitY, Govt. of India — HRD in Unmanned Aircraft Systems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47B82CDCC7D645BD7750B743859A31" ma:contentTypeVersion="10" ma:contentTypeDescription="Create a new document." ma:contentTypeScope="" ma:versionID="ea999a0b2ba8f1d45c2fcd3b9193cd48">
  <xsd:schema xmlns:xsd="http://www.w3.org/2001/XMLSchema" xmlns:xs="http://www.w3.org/2001/XMLSchema" xmlns:p="http://schemas.microsoft.com/office/2006/metadata/properties" xmlns:ns3="23c681ad-0beb-4366-9429-3594655664df" targetNamespace="http://schemas.microsoft.com/office/2006/metadata/properties" ma:root="true" ma:fieldsID="8c97fb2bc38296c9bfed1f990d03cdb7" ns3:_="">
    <xsd:import namespace="23c681ad-0beb-4366-9429-3594655664d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c681ad-0beb-4366-9429-3594655664d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3c681ad-0beb-4366-9429-3594655664df" xsi:nil="true"/>
  </documentManagement>
</p:properties>
</file>

<file path=customXml/itemProps1.xml><?xml version="1.0" encoding="utf-8"?>
<ds:datastoreItem xmlns:ds="http://schemas.openxmlformats.org/officeDocument/2006/customXml" ds:itemID="{C0AF1D25-1064-4BC6-9E63-9A80459D0A4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83DE64-AFB3-4FC7-89E1-55B0919278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c681ad-0beb-4366-9429-3594655664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8CD3DC8-3CD7-4651-8378-390C4D896AED}">
  <ds:schemaRefs>
    <ds:schemaRef ds:uri="http://purl.org/dc/dcmitype/"/>
    <ds:schemaRef ds:uri="http://schemas.microsoft.com/office/infopath/2007/PartnerControls"/>
    <ds:schemaRef ds:uri="23c681ad-0beb-4366-9429-3594655664d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1483</TotalTime>
  <Words>1777</Words>
  <Application>Microsoft Office PowerPoint</Application>
  <PresentationFormat>On-screen Show (16:9)</PresentationFormat>
  <Paragraphs>264</Paragraphs>
  <Slides>14</Slides>
  <Notes>13</Notes>
  <HiddenSlides>0</HiddenSlides>
  <MMClips>2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Robotics Research Center, IIIT Hyderabad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Spinning Quadrotor</dc:title>
  <dc:subject>PptxGenJS Presentation</dc:subject>
  <dc:creator>Aniketh Parkala</dc:creator>
  <cp:lastModifiedBy>aniketh parkala</cp:lastModifiedBy>
  <cp:revision>7</cp:revision>
  <dcterms:created xsi:type="dcterms:W3CDTF">2026-06-08T15:40:22Z</dcterms:created>
  <dcterms:modified xsi:type="dcterms:W3CDTF">2026-06-11T08:32:10Z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0x0101004647B82CDCC7D645BD7750B743859A31</vt:lpwstr>
  </property>
</Properties>
</file>